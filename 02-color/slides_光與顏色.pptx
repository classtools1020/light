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【第2節 光與顏色｜探究主題：彩虹裡藏著什麼祕密？】對應翰林4-5色散與顏色(教學進度總表第13週)。課綱 Ka-IV-10(陽光經三稜鏡分散成各種色光)、Ka-IV-11(物體顏色是光選擇性反射的結果)。
⚠️課綱校正：Ka-IV-7是「光速大小」，不屬於本節，勿引用。
官方引起動機(翰林教案)可仿：「陽光是白色的，為什麼彩虹有七種顏色？」
互動網站：https://classtools1020.github.io/light/02-color/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視覺流程條：三原色→混光→彩虹→得星星。台詞：「今天我們要當彩虹偵探！」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承先啟後：連結第1節「沒有光看不見」。關燈示範：「關燈後，還看得到顏色嗎？」→看不到。「顏色其實是光給我們的。」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科學名詞：光的三原色＝紅(Red)、綠(Green)、藍(Blue)。電視/手機螢幕就是用這三種光點組成所有顏色。
台詞：「這三盞燈是紅色、綠色、藍色，這是光的三原色。」👉「哪一個是綠色？指指看。」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科學原理(Ka-IV-11相關/加色混合)：紅光 + 綠光 = 黃光 這是「光」的混合(加色法，越混越亮)，和顏料混合(減色法，越混越暗)相反——常見迷思，可提醒學生區分。
提示層級：🖐️老師示範疊色手電筒；👉「猜猜看混出什麼顏色？」；✅「為什麼變黃色？因為兩種色光疊在一起。」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科學原理(Ka-IV-11相關/加色混合)：綠光 + 藍光 = 青光 這是「光」的混合(加色法，越混越亮)，和顏料混合(減色法，越混越暗)相反——常見迷思，可提醒學生區分。
提示層級：🖐️老師示範疊色手電筒；👉「猜猜看混出什麼顏色？」；✅「為什麼變青色？因為兩種色光疊在一起。」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科學原理(Ka-IV-11相關/加色混合)：紅光 + 藍光 = 洋紅光 這是「光」的混合(加色法，越混越亮)，和顏料混合(減色法，越混越暗)相反——常見迷思，可提醒學生區分。
提示層級：🖐️老師示範疊色手電筒；👉「猜猜看混出什麼顏色？」；✅「為什麼變洋紅色？因為兩種色光疊在一起。」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科學原理(Ka-IV-11相關/加色混合)：紅+綠+藍 全部一起 = 白光！ 這是「光」的混合(加色法，越混越亮)，和顏料混合(減色法，越混越暗)相反——常見迷思，可提醒學生區分。
提示層級：🖐️老師示範疊色手電筒；👉「猜猜看混出什麼顏色？」；✅「為什麼變白色？因為兩種色光疊在一起。」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題目卡。台詞：「白白的光，穿過這個三角形玻璃，會發生什麼事？」等反應。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【答案卡｜Ka-IV-10色散】科學原理：白光其實包含各種色光，穿過三稜鏡時不同色光偏折角度不同(如同第1節的折射，但每種顏色偏折程度不同)，所以分散開來變成色散光譜——這就是牛頓的三稜鏡實驗。
對應官方探討活動4-4：讓陽光/手電筒光穿過三稜鏡，觀察分散出的色帶。
✅概念層：「白光裡面其實有很多顏色，只是平常混在一起看不出來。」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生活連結：下雨後空氣中的小水滴，就像千萬個小三稜鏡，把陽光分散成彩虹。首尾呼應開場謎題「彩虹裡藏著什麼祕密」——答案：白光其實有很多顏色。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【Ka-IV-11 物體顏色是光選擇性反射的結果】概念層延伸(進階題，依學生程度使用)：物體反射某種色光、吸收其他色光，我們看到的顏色就是被反射出來的那個顏色。
👉「蘋果反射什麼光？紅還是綠？」✅「因為反射紅光，所以看起來紅色。」
延伸彩蛋：個人色彩/膚色分析——不同顏色的光或衣服讓人看起來不同，也是「顏色來自光反射」的應用。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實作站：①紅+綠(或藍)玻璃紙手電筒疊色，觀察牆上混出的新顏色 ②三稜鏡對著陽光/手電筒，觀察分散的色帶(官方探討活動4-4)。
🖐️需要協助者：教師手把手完成，感受動作與結果。⚠️手電筒不可照眼睛。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影片用途：先暫停到畫面、音量調小，每段1-2分鐘。混光影片=實驗前示範；三稜鏡分光=呼應色散概念。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統整：回到開場謎題「彩虹裡藏著什麼祕密」，讓學生用自己的方式說出/指出答案(白光裡有很多顏色)。發星星/貼紙。預告下次：透鏡與光學儀器(放大鏡/眼鏡/照相機)。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earnmode.net/" TargetMode="External"/><Relationship Id="rId2" Type="http://schemas.openxmlformats.org/officeDocument/2006/relationships/hyperlink" Target="https://www.youtube.com/results?search_query=&#19977;&#31260;&#37857;+&#20998;&#20809;+&#23526;&#39511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光與顏色</a:t>
            </a:r>
            <a:endParaRPr lang="en-US" sz="7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彩虹裡藏著什麼祕密？</a:t>
            </a:r>
            <a:endParaRPr lang="en-US" sz="3000" dirty="0"/>
          </a:p>
        </p:txBody>
      </p:sp>
      <p:pic>
        <p:nvPicPr>
          <p:cNvPr id="5" name="Image 0" descr="C:/Users/user/AppData/Local/Temp/claude/H---------02------115-----/b3550590-5e28-4798-9348-3256aef91609/scratchpad/color/assets/mascot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291840"/>
            <a:ext cx="2468880" cy="2468880"/>
          </a:xfrm>
          <a:prstGeom prst="rect">
            <a:avLst/>
          </a:prstGeom>
        </p:spPr>
      </p:pic>
      <p:pic>
        <p:nvPicPr>
          <p:cNvPr id="6" name="Image 1" descr="C:/Users/user/AppData/Local/Temp/claude/H---------02------115-----/b3550590-5e28-4798-9348-3256aef91609/scratchpad/color/assets/mascot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383280"/>
            <a:ext cx="224028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翰林八上 4-5 色散與顏色｜跟著小火車一起破解彩虹 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今天要做的事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651760"/>
            <a:ext cx="24992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🔴🟢🔵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三原色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13684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3684" y="2651760"/>
            <a:ext cx="24992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⚪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3413684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78728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78728" y="2651760"/>
            <a:ext cx="24992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🌈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彩虹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143771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3771" y="2651760"/>
            <a:ext cx="24992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9143771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我做到了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為什麼看得到顏色？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7A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因為有光。沒有光，什麼顏色都看不到。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光的三原色</a:t>
            </a:r>
            <a:endParaRPr lang="en-US" sz="4600" dirty="0"/>
          </a:p>
        </p:txBody>
      </p:sp>
      <p:pic>
        <p:nvPicPr>
          <p:cNvPr id="3" name="Image 0" descr="C:/Users/user/AppData/Local/Temp/claude/H---------02------115-----/b3550590-5e28-4798-9348-3256aef91609/scratchpad/color/assets/ph_rgb_20260903_2103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808" y="1371600"/>
            <a:ext cx="7498080" cy="499872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1523848" y="5989320"/>
            <a:ext cx="9144000" cy="64008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523848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🔴 紅 Red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2FD9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🟢 綠 Green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3B8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🔵 藍 Blue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混光猜一猜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209648" y="2743200"/>
            <a:ext cx="1645920" cy="1645920"/>
          </a:xfrm>
          <a:prstGeom prst="ellipse">
            <a:avLst/>
          </a:prstGeom>
          <a:solidFill>
            <a:srgbClr val="FF3B3B"/>
          </a:solidFill>
          <a:ln/>
          <a:effectLst>
            <a:outerShdw sx="100000" sy="100000" kx="0" ky="0" algn="bl" rotWithShape="0" blurRad="330200" dist="50800" dir="16200000">
              <a:srgbClr val="FF3B3B">
                <a:alpha val="5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5556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769968" y="2743200"/>
            <a:ext cx="1645920" cy="1645920"/>
          </a:xfrm>
          <a:prstGeom prst="ellipse">
            <a:avLst/>
          </a:prstGeom>
          <a:solidFill>
            <a:srgbClr val="2FD960"/>
          </a:solidFill>
          <a:ln/>
          <a:effectLst>
            <a:outerShdw sx="100000" sy="100000" kx="0" ky="0" algn="bl" rotWithShape="0" blurRad="330200" dist="50800" dir="16200000">
              <a:srgbClr val="2FD960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1588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7330288" y="2743200"/>
            <a:ext cx="1645920" cy="1645920"/>
          </a:xfrm>
          <a:prstGeom prst="ellipse">
            <a:avLst/>
          </a:prstGeom>
          <a:solidFill>
            <a:srgbClr val="1A1730"/>
          </a:solidFill>
          <a:ln w="50800">
            <a:solidFill>
              <a:srgbClr val="FFC53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30288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黃色！ Yellow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626968" y="2286000"/>
            <a:ext cx="4937760" cy="23774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12768" y="2743200"/>
            <a:ext cx="1371600" cy="1371600"/>
          </a:xfrm>
          <a:prstGeom prst="ellipse">
            <a:avLst/>
          </a:prstGeom>
          <a:solidFill>
            <a:srgbClr val="FF3B3B"/>
          </a:solidFill>
          <a:ln/>
          <a:effectLst>
            <a:outerShdw sx="100000" sy="100000" kx="0" ky="0" algn="bl" rotWithShape="0" blurRad="330200" dist="50800" dir="16200000">
              <a:srgbClr val="FF3B3B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84368" y="27432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07328" y="2743200"/>
            <a:ext cx="1371600" cy="1371600"/>
          </a:xfrm>
          <a:prstGeom prst="ellipse">
            <a:avLst/>
          </a:prstGeom>
          <a:solidFill>
            <a:srgbClr val="2FD960"/>
          </a:solidFill>
          <a:ln/>
          <a:effectLst>
            <a:outerShdw sx="100000" sy="100000" kx="0" ky="0" algn="bl" rotWithShape="0" blurRad="330200" dist="50800" dir="16200000">
              <a:srgbClr val="2FD960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紅光 + 綠光 = 黃光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混光猜一猜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209648" y="2743200"/>
            <a:ext cx="1645920" cy="1645920"/>
          </a:xfrm>
          <a:prstGeom prst="ellipse">
            <a:avLst/>
          </a:prstGeom>
          <a:solidFill>
            <a:srgbClr val="2FD960"/>
          </a:solidFill>
          <a:ln/>
          <a:effectLst>
            <a:outerShdw sx="100000" sy="100000" kx="0" ky="0" algn="bl" rotWithShape="0" blurRad="330200" dist="50800" dir="16200000">
              <a:srgbClr val="2FD960">
                <a:alpha val="5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5556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769968" y="2743200"/>
            <a:ext cx="1645920" cy="1645920"/>
          </a:xfrm>
          <a:prstGeom prst="ellipse">
            <a:avLst/>
          </a:prstGeom>
          <a:solidFill>
            <a:srgbClr val="3B82FF"/>
          </a:solidFill>
          <a:ln/>
          <a:effectLst>
            <a:outerShdw sx="100000" sy="100000" kx="0" ky="0" algn="bl" rotWithShape="0" blurRad="330200" dist="50800" dir="16200000">
              <a:srgbClr val="3B82FF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1588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7330288" y="2743200"/>
            <a:ext cx="1645920" cy="1645920"/>
          </a:xfrm>
          <a:prstGeom prst="ellipse">
            <a:avLst/>
          </a:prstGeom>
          <a:solidFill>
            <a:srgbClr val="1A1730"/>
          </a:solidFill>
          <a:ln w="50800">
            <a:solidFill>
              <a:srgbClr val="FFC53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30288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E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青色！ Cyan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626968" y="2286000"/>
            <a:ext cx="4937760" cy="23774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12768" y="2743200"/>
            <a:ext cx="1371600" cy="1371600"/>
          </a:xfrm>
          <a:prstGeom prst="ellipse">
            <a:avLst/>
          </a:prstGeom>
          <a:solidFill>
            <a:srgbClr val="2FD960"/>
          </a:solidFill>
          <a:ln/>
          <a:effectLst>
            <a:outerShdw sx="100000" sy="100000" kx="0" ky="0" algn="bl" rotWithShape="0" blurRad="330200" dist="50800" dir="16200000">
              <a:srgbClr val="2FD960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84368" y="27432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07328" y="2743200"/>
            <a:ext cx="1371600" cy="1371600"/>
          </a:xfrm>
          <a:prstGeom prst="ellipse">
            <a:avLst/>
          </a:prstGeom>
          <a:solidFill>
            <a:srgbClr val="3B82FF"/>
          </a:solidFill>
          <a:ln/>
          <a:effectLst>
            <a:outerShdw sx="100000" sy="100000" kx="0" ky="0" algn="bl" rotWithShape="0" blurRad="330200" dist="50800" dir="16200000">
              <a:srgbClr val="3B82FF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綠光 + 藍光 = 青光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混光猜一猜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209648" y="2743200"/>
            <a:ext cx="1645920" cy="1645920"/>
          </a:xfrm>
          <a:prstGeom prst="ellipse">
            <a:avLst/>
          </a:prstGeom>
          <a:solidFill>
            <a:srgbClr val="FF3B3B"/>
          </a:solidFill>
          <a:ln/>
          <a:effectLst>
            <a:outerShdw sx="100000" sy="100000" kx="0" ky="0" algn="bl" rotWithShape="0" blurRad="330200" dist="50800" dir="16200000">
              <a:srgbClr val="FF3B3B">
                <a:alpha val="5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5556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769968" y="2743200"/>
            <a:ext cx="1645920" cy="1645920"/>
          </a:xfrm>
          <a:prstGeom prst="ellipse">
            <a:avLst/>
          </a:prstGeom>
          <a:solidFill>
            <a:srgbClr val="3B82FF"/>
          </a:solidFill>
          <a:ln/>
          <a:effectLst>
            <a:outerShdw sx="100000" sy="100000" kx="0" ky="0" algn="bl" rotWithShape="0" blurRad="330200" dist="50800" dir="16200000">
              <a:srgbClr val="3B82FF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1588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7330288" y="2743200"/>
            <a:ext cx="1645920" cy="1645920"/>
          </a:xfrm>
          <a:prstGeom prst="ellipse">
            <a:avLst/>
          </a:prstGeom>
          <a:solidFill>
            <a:srgbClr val="1A1730"/>
          </a:solidFill>
          <a:ln w="50800">
            <a:solidFill>
              <a:srgbClr val="FFC53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30288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4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洋紅色！ Magenta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626968" y="2286000"/>
            <a:ext cx="4937760" cy="23774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12768" y="2743200"/>
            <a:ext cx="1371600" cy="1371600"/>
          </a:xfrm>
          <a:prstGeom prst="ellipse">
            <a:avLst/>
          </a:prstGeom>
          <a:solidFill>
            <a:srgbClr val="FF3B3B"/>
          </a:solidFill>
          <a:ln/>
          <a:effectLst>
            <a:outerShdw sx="100000" sy="100000" kx="0" ky="0" algn="bl" rotWithShape="0" blurRad="330200" dist="50800" dir="16200000">
              <a:srgbClr val="FF3B3B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84368" y="27432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07328" y="2743200"/>
            <a:ext cx="1371600" cy="1371600"/>
          </a:xfrm>
          <a:prstGeom prst="ellipse">
            <a:avLst/>
          </a:prstGeom>
          <a:solidFill>
            <a:srgbClr val="3B82FF"/>
          </a:solidFill>
          <a:ln/>
          <a:effectLst>
            <a:outerShdw sx="100000" sy="100000" kx="0" ky="0" algn="bl" rotWithShape="0" blurRad="330200" dist="50800" dir="16200000">
              <a:srgbClr val="3B82FF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紅光 + 藍光 = 洋紅光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混光猜一猜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18008" y="2743200"/>
            <a:ext cx="1645920" cy="1645920"/>
          </a:xfrm>
          <a:prstGeom prst="ellipse">
            <a:avLst/>
          </a:prstGeom>
          <a:solidFill>
            <a:srgbClr val="FF3B3B"/>
          </a:solidFill>
          <a:ln/>
          <a:effectLst>
            <a:outerShdw sx="100000" sy="100000" kx="0" ky="0" algn="bl" rotWithShape="0" blurRad="330200" dist="50800" dir="16200000">
              <a:srgbClr val="FF3B3B">
                <a:alpha val="5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16392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078328" y="2743200"/>
            <a:ext cx="1645920" cy="1645920"/>
          </a:xfrm>
          <a:prstGeom prst="ellipse">
            <a:avLst/>
          </a:prstGeom>
          <a:solidFill>
            <a:srgbClr val="2FD960"/>
          </a:solidFill>
          <a:ln/>
          <a:effectLst>
            <a:outerShdw sx="100000" sy="100000" kx="0" ky="0" algn="bl" rotWithShape="0" blurRad="330200" dist="50800" dir="16200000">
              <a:srgbClr val="2FD960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72424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638648" y="2743200"/>
            <a:ext cx="1645920" cy="1645920"/>
          </a:xfrm>
          <a:prstGeom prst="ellipse">
            <a:avLst/>
          </a:prstGeom>
          <a:solidFill>
            <a:srgbClr val="3B82FF"/>
          </a:solidFill>
          <a:ln/>
          <a:effectLst>
            <a:outerShdw sx="100000" sy="100000" kx="0" ky="0" algn="bl" rotWithShape="0" blurRad="330200" dist="50800" dir="16200000">
              <a:srgbClr val="3B82FF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84568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8198968" y="2743200"/>
            <a:ext cx="1645920" cy="1645920"/>
          </a:xfrm>
          <a:prstGeom prst="ellipse">
            <a:avLst/>
          </a:prstGeom>
          <a:solidFill>
            <a:srgbClr val="1A1730"/>
          </a:solidFill>
          <a:ln w="50800">
            <a:solidFill>
              <a:srgbClr val="FFC53D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198968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白色！ White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666848" y="2286000"/>
            <a:ext cx="6858000" cy="23774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15488" y="2743200"/>
            <a:ext cx="1371600" cy="1371600"/>
          </a:xfrm>
          <a:prstGeom prst="ellipse">
            <a:avLst/>
          </a:prstGeom>
          <a:solidFill>
            <a:srgbClr val="FF3B3B"/>
          </a:solidFill>
          <a:ln/>
          <a:effectLst>
            <a:outerShdw sx="100000" sy="100000" kx="0" ky="0" algn="bl" rotWithShape="0" blurRad="330200" dist="50800" dir="16200000">
              <a:srgbClr val="FF3B3B">
                <a:alpha val="5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87088" y="27432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10048" y="2743200"/>
            <a:ext cx="1371600" cy="1371600"/>
          </a:xfrm>
          <a:prstGeom prst="ellipse">
            <a:avLst/>
          </a:prstGeom>
          <a:solidFill>
            <a:srgbClr val="2FD960"/>
          </a:solidFill>
          <a:ln/>
          <a:effectLst>
            <a:outerShdw sx="100000" sy="100000" kx="0" ky="0" algn="bl" rotWithShape="0" blurRad="330200" dist="50800" dir="16200000">
              <a:srgbClr val="2FD960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81648" y="27432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7604608" y="2743200"/>
            <a:ext cx="1371600" cy="1371600"/>
          </a:xfrm>
          <a:prstGeom prst="ellipse">
            <a:avLst/>
          </a:prstGeom>
          <a:solidFill>
            <a:srgbClr val="3B82FF"/>
          </a:solidFill>
          <a:ln/>
          <a:effectLst>
            <a:outerShdw sx="100000" sy="100000" kx="0" ky="0" algn="bl" rotWithShape="0" blurRad="330200" dist="50800" dir="16200000">
              <a:srgbClr val="3B82FF">
                <a:alpha val="5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紅+綠+藍 全部一起 = 白光！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白光穿過三稜鏡，會怎樣？</a:t>
            </a:r>
            <a:endParaRPr lang="en-US" sz="4200" dirty="0"/>
          </a:p>
        </p:txBody>
      </p:sp>
      <p:pic>
        <p:nvPicPr>
          <p:cNvPr id="3" name="Image 0" descr="C:/Users/user/AppData/Local/Temp/claude/H---------02------115-----/b3550590-5e28-4798-9348-3256aef91609/scratchpad/color/assets/ph_prism_20260903_2104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128" y="1371600"/>
            <a:ext cx="6949440" cy="4632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🌈 分散成彩虹！</a:t>
            </a:r>
            <a:endParaRPr lang="en-US" sz="5600" dirty="0"/>
          </a:p>
        </p:txBody>
      </p:sp>
      <p:pic>
        <p:nvPicPr>
          <p:cNvPr id="4" name="Image 0" descr="C:/Users/user/AppData/Local/Temp/claude/H---------02------115-----/b3550590-5e28-4798-9348-3256aef91609/scratchpad/color/assets/ph_prism_20260903_2104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008" y="1371600"/>
            <a:ext cx="6583680" cy="438912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731520" y="59436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白光其實藏著紅橙黃綠藍靛紫，三稜鏡把它們分開了！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天空的彩虹，也是這樣來的！</a:t>
            </a:r>
            <a:endParaRPr lang="en-US" sz="3800" dirty="0"/>
          </a:p>
        </p:txBody>
      </p:sp>
      <p:pic>
        <p:nvPicPr>
          <p:cNvPr id="3" name="Image 0" descr="C:/Users/user/AppData/Local/Temp/claude/H---------02------115-----/b3550590-5e28-4798-9348-3256aef91609/scratchpad/color/assets/ph_rainbow_20260903_2104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128" y="1371600"/>
            <a:ext cx="6949440" cy="4632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🍎🌿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草為什麼是綠的？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7A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因為草把「綠光」反射出來，我們就看到綠色。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7A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紅蘋果反射「紅光」，所以看起來是紅色。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動手做：混光小實驗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393338" cy="3840480"/>
          </a:xfrm>
          <a:prstGeom prst="roundRect">
            <a:avLst>
              <a:gd name="adj" fmla="val 5389"/>
            </a:avLst>
          </a:prstGeom>
          <a:solidFill>
            <a:srgbClr val="F1EE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33829" y="1600200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33829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3933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80560"/>
            <a:ext cx="311901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紅+綠手電筒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疊在一起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99178" y="2011680"/>
            <a:ext cx="3393338" cy="3840480"/>
          </a:xfrm>
          <a:prstGeom prst="roundRect">
            <a:avLst>
              <a:gd name="adj" fmla="val 5389"/>
            </a:avLst>
          </a:prstGeom>
          <a:solidFill>
            <a:srgbClr val="F1EE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84368" y="1600200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684368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99178" y="2651760"/>
            <a:ext cx="33933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👀</a:t>
            </a:r>
            <a:endParaRPr lang="en-US" sz="800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4480560"/>
            <a:ext cx="311901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看牆上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變什麼顏色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49717" y="2011680"/>
            <a:ext cx="3393338" cy="3840480"/>
          </a:xfrm>
          <a:prstGeom prst="roundRect">
            <a:avLst>
              <a:gd name="adj" fmla="val 5389"/>
            </a:avLst>
          </a:prstGeom>
          <a:solidFill>
            <a:srgbClr val="F1EE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34906" y="1600200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534906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49717" y="2651760"/>
            <a:ext cx="33933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🔺</a:t>
            </a:r>
            <a:endParaRPr lang="en-US" sz="8000" dirty="0"/>
          </a:p>
        </p:txBody>
      </p:sp>
      <p:sp>
        <p:nvSpPr>
          <p:cNvPr id="17" name="Text 15"/>
          <p:cNvSpPr txBox="1"/>
          <p:nvPr/>
        </p:nvSpPr>
        <p:spPr>
          <a:xfrm>
            <a:off x="8386877" y="4480560"/>
            <a:ext cx="311901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三稜鏡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照太陽光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🎬 看影片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728655" cy="960120"/>
          </a:xfrm>
          <a:prstGeom prst="roundRect">
            <a:avLst>
              <a:gd name="adj" fmla="val 13333"/>
            </a:avLst>
          </a:prstGeom>
          <a:solidFill>
            <a:srgbClr val="1A1730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3736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82880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光的三原色與混光（學習吧）</a:t>
            </a:r>
            <a:endParaRPr lang="en-US" sz="22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1737360" y="2249424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BE1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https://www.learnmode.net/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07792"/>
            <a:ext cx="10728655" cy="960120"/>
          </a:xfrm>
          <a:prstGeom prst="roundRect">
            <a:avLst>
              <a:gd name="adj" fmla="val 13333"/>
            </a:avLst>
          </a:prstGeom>
          <a:solidFill>
            <a:srgbClr val="1A1730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907792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99232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三稜鏡分光實驗</a:t>
            </a:r>
            <a:endParaRPr lang="en-US" sz="2200" dirty="0"/>
          </a:p>
        </p:txBody>
      </p:sp>
      <p:sp>
        <p:nvSpPr>
          <p:cNvPr id="10" name="Text 8">
            <a:hlinkClick r:id="rId2" tooltip=""/>
          </p:cNvPr>
          <p:cNvSpPr txBox="1"/>
          <p:nvPr/>
        </p:nvSpPr>
        <p:spPr>
          <a:xfrm>
            <a:off x="1737360" y="3419856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BE1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https://www.youtube.com/results?search_query=三稜鏡+分光+實驗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H---------02------115-----/b3550590-5e28-4798-9348-3256aef91609/scratchpad/color/assets/mascot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914400"/>
            <a:ext cx="2377440" cy="2377440"/>
          </a:xfrm>
          <a:prstGeom prst="rect">
            <a:avLst/>
          </a:prstGeom>
        </p:spPr>
      </p:pic>
      <p:pic>
        <p:nvPicPr>
          <p:cNvPr id="3" name="Image 1" descr="C:/Users/user/AppData/Local/Temp/claude/H---------02------115-----/b3550590-5e28-4798-9348-3256aef91609/scratchpad/color/assets/mascot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51560"/>
            <a:ext cx="2148840" cy="2148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32004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🏆</a:t>
            </a:r>
            <a:endParaRPr lang="en-US" sz="70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429768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你破解了彩虹的祕密！</a:t>
            </a:r>
            <a:endParaRPr lang="en-US" sz="5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53949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7A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三原色 · 混光 · 彩虹，你都認識了！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2026-09-03T14:14:15Z</dcterms:created>
  <dcterms:modified xsi:type="dcterms:W3CDTF">2026-09-03T14:14:15Z</dcterms:modified>
</cp:coreProperties>
</file>
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【第1節 光的現象｜探究主題：光偵探——吸管真的斷了嗎？】翰林八上第四章 4-1~4-3。課綱學習內容 Ka-IV-6 光的直進、Ka-IV-8 光的反射與折射。
素養設計(首尾呼應)：開場丟出謎題「水裡的吸管真的斷了嗎」，全節像破案一樣認識影子/反射/折射，結尾由學生破解。
本節目標：能指/選出影子、反射、折射其中的現象；完成一個光的操作；用任一方式表達。
三層次(依協助量)：🖐️參與(視線/伸手/跟做)、👉辨識(二三選一/指認)、✅概念(說原因/句型/AAC)。
開場儀式：出示視覺流程條，完成一項翻一項。互動網站(可投影/平板)：https://classtools1020.github.io/light/01-phenomena/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視覺流程條(結構化教學)：讓學生預期今天的順序，降低不確定感。逐項完成即翻面/移除。
台詞：「今天我們要做四件事：看影子、看反射、看折射、得星星。」指著每個圖示唸一次。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複習/連結先備：看得見物體需要光(Ka-IV-6基礎)。
操作：關燈2秒→開燈，讓學生體驗。👉辨識：「看得見還是看不見？指指看。」✅概念：「為什麼看得見？因為有光。」
⚠️安全：關燈前先口頭預告(對光/聲音敏感的同學需要預告)，光線放柔，避免突然強閃。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【題目卡—影子】先問後答，這張只出現問題，讓學生思考/指認，不要先講答案。
台詞：「看這張圖，這是影子、反射，還是折射？」給5-10秒等反應。
🖐️參與：手把手指圖。👉辨識：三選一指認。✅概念：先說看到什麼。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【答案卡—影子｜Ka-IV-6 光的直進】
科學原理：光沿直線前進，遇到不透明物體被擋住，物體後方光照不到→形成影子。
台詞：「光被身體擋住了，後面黑黑的，這是影子。」
🖐️手電筒照手看影子；👉「影子在哪？指指看」；✅「為什麼有影子？因為光被擋住(不透明)」。
生活連結：手影遊戲、樹影、日晷。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【題目卡—反射】只出問題。台詞：「這一張呢？光碰到鏡子會怎樣？」等反應再翻下一張。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【答案卡—反射｜Ka-IV-8 光的反射】
科學原理：光遇到光滑(鏡)面會反射，遵守反射定律(入射角=反射角)；中重度只需掌握「光滑面→光彈回來」。
台詞：「鏡子把光彈回去了，牆上亮亮的，這是反射。」
🖐️拿鏡子把光照到牆；👉「亮亮光點在哪？」；✅「光為什麼彈回來？因為碰到光滑的鏡子」。
生活連結：後視鏡、平靜水面倒影、玻璃反光。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【題目卡—折射】只出問題。台詞：「這支筆在水裡怎麼了？這是什麼現象？」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【答案卡—折射｜Ka-IV-8 光的折射】
科學原理：光斜射進入不同介質(空氣→水)速度改變而偏折(折射)，所以水中的筆看起來偏移/斷裂——其實筆沒斷，是光歪了。
迷思破解：學生常以為筆真的斷掉→拿出來看，證明沒斷。
台詞：「光穿過水，光線歪掉，看起來斷掉，這是折射。」
🖐️把筆放進水杯；👉「筆是真的斷嗎？有/沒有」；✅「光穿過水會怎樣？歪掉(折射)」。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實作(調pe-IV-2)：每位學生都要親手做到一個。提示層級記錄：獨立→手勢→部分肢體。
🖐️需要協助的同學：教師手把手完成，讓他感受動作與結果。
⚠️安全：手電筒、鏡子不可照眼睛；有癲癇史的同學避免強閃光。
可搭配互動網站闖關驗收：影子/反射/折射三選一。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影片用途：先暫停到畫面、音量調小，每段只播1-2分鐘關鍵片段。
均一/折射現象=實驗前示範；學習吧=複習。播完追問：「影片裡的筆也彎彎的，這是什麼？→折射」。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統整＋正向回饋。讓每位學生用自己的方式說/指一個今天學到的現象(調pc-IV-2表達)。
預告下次：光的顏色(第2節)。發星星/貼紙增強。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unyiacademy.org/junyi-science/ns-ele/99ns/99ns-g4/99ns-g4-08/v/39oh-NZKqAc" TargetMode="External"/><Relationship Id="rId2" Type="http://schemas.openxmlformats.org/officeDocument/2006/relationships/hyperlink" Target="https://www.youtube.com/watch?v=PJDHaxlR1gU" TargetMode="External"/><Relationship Id="rId3" Type="http://schemas.openxmlformats.org/officeDocument/2006/relationships/hyperlink" Target="https://www.youtube.com/watch?v=DLnXTzXVtgI" TargetMode="External"/><Relationship Id="rId4" Type="http://schemas.openxmlformats.org/officeDocument/2006/relationships/hyperlink" Target="https://www.learnmode.net/flip/video/4657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光的現象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5176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C3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影子</a:t>
            </a:r>
            <a:pPr algn="ctr" indent="0" marL="0">
              <a:buNone/>
            </a:pPr>
            <a:r>
              <a:rPr lang="en-US" sz="3400" b="1" dirty="0">
                <a:solidFill>
                  <a:srgbClr val="6C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</a:t>
            </a:r>
            <a:pPr algn="ctr" indent="0" marL="0">
              <a:buNone/>
            </a:pPr>
            <a:r>
              <a:rPr lang="en-US" sz="3400" b="1" dirty="0">
                <a:solidFill>
                  <a:srgbClr val="9FE8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反射</a:t>
            </a:r>
            <a:pPr algn="ctr" indent="0" marL="0">
              <a:buNone/>
            </a:pPr>
            <a:r>
              <a:rPr lang="en-US" sz="3400" b="1" dirty="0">
                <a:solidFill>
                  <a:srgbClr val="6C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</a:t>
            </a:r>
            <a:pPr algn="ctr" indent="0" marL="0">
              <a:buNone/>
            </a:pPr>
            <a:r>
              <a:rPr lang="en-US" sz="3400" b="1" dirty="0">
                <a:solidFill>
                  <a:srgbClr val="B9CC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折射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461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C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🔍 光偵探出動！</a:t>
            </a:r>
            <a:endParaRPr lang="en-US" sz="3000" dirty="0"/>
          </a:p>
        </p:txBody>
      </p:sp>
      <p:pic>
        <p:nvPicPr>
          <p:cNvPr id="6" name="Image 0" descr="C:/Users/user/AppData/Local/Temp/claude/H---------02------115-----/b3550590-5e28-4798-9348-3256aef91609/scratchpad/pptx_light/assets/t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3886200"/>
            <a:ext cx="2468880" cy="2468880"/>
          </a:xfrm>
          <a:prstGeom prst="rect">
            <a:avLst/>
          </a:prstGeom>
        </p:spPr>
      </p:pic>
      <p:pic>
        <p:nvPicPr>
          <p:cNvPr id="7" name="Image 1" descr="C:/Users/user/AppData/Local/Temp/claude/H---------02------115-----/b3550590-5e28-4798-9348-3256aef91609/scratchpad/pptx_light/assets/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3977640"/>
            <a:ext cx="2240280" cy="22402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63093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翰林八上 第四章｜跟著小火車一起破案 🚂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今天要做的事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548640" y="2194560"/>
            <a:ext cx="2499284" cy="2926080"/>
          </a:xfrm>
          <a:prstGeom prst="roundRect">
            <a:avLst>
              <a:gd name="adj" fmla="val 7317"/>
            </a:avLst>
          </a:prstGeom>
          <a:solidFill>
            <a:srgbClr val="F1EEFF"/>
          </a:solidFill>
          <a:ln/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2560320"/>
            <a:ext cx="249928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🌑</a:t>
            </a:r>
            <a:endParaRPr lang="en-US" sz="9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24992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影子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13684" y="2194560"/>
            <a:ext cx="2499284" cy="2926080"/>
          </a:xfrm>
          <a:prstGeom prst="roundRect">
            <a:avLst>
              <a:gd name="adj" fmla="val 7317"/>
            </a:avLst>
          </a:prstGeom>
          <a:solidFill>
            <a:srgbClr val="F1EEFF"/>
          </a:solidFill>
          <a:ln/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13684" y="2560320"/>
            <a:ext cx="249928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🪞</a:t>
            </a:r>
            <a:endParaRPr lang="en-US" sz="9200" dirty="0"/>
          </a:p>
        </p:txBody>
      </p:sp>
      <p:sp>
        <p:nvSpPr>
          <p:cNvPr id="8" name="Text 6"/>
          <p:cNvSpPr txBox="1"/>
          <p:nvPr/>
        </p:nvSpPr>
        <p:spPr>
          <a:xfrm>
            <a:off x="3413684" y="4297680"/>
            <a:ext cx="24992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反射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278728" y="2194560"/>
            <a:ext cx="2499284" cy="2926080"/>
          </a:xfrm>
          <a:prstGeom prst="roundRect">
            <a:avLst>
              <a:gd name="adj" fmla="val 7317"/>
            </a:avLst>
          </a:prstGeom>
          <a:solidFill>
            <a:srgbClr val="F1EEFF"/>
          </a:solidFill>
          <a:ln/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78728" y="2560320"/>
            <a:ext cx="249928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💧</a:t>
            </a:r>
            <a:endParaRPr lang="en-US" sz="9200" dirty="0"/>
          </a:p>
        </p:txBody>
      </p:sp>
      <p:sp>
        <p:nvSpPr>
          <p:cNvPr id="11" name="Text 9"/>
          <p:cNvSpPr txBox="1"/>
          <p:nvPr/>
        </p:nvSpPr>
        <p:spPr>
          <a:xfrm>
            <a:off x="6278728" y="4297680"/>
            <a:ext cx="24992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折射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3771" y="2194560"/>
            <a:ext cx="2499284" cy="2926080"/>
          </a:xfrm>
          <a:prstGeom prst="roundRect">
            <a:avLst>
              <a:gd name="adj" fmla="val 7317"/>
            </a:avLst>
          </a:prstGeom>
          <a:solidFill>
            <a:srgbClr val="F1EEFF"/>
          </a:solidFill>
          <a:ln/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3771" y="2560320"/>
            <a:ext cx="249928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</a:t>
            </a:r>
            <a:endParaRPr lang="en-US" sz="9200" dirty="0"/>
          </a:p>
        </p:txBody>
      </p:sp>
      <p:sp>
        <p:nvSpPr>
          <p:cNvPr id="14" name="Text 12"/>
          <p:cNvSpPr txBox="1"/>
          <p:nvPr/>
        </p:nvSpPr>
        <p:spPr>
          <a:xfrm>
            <a:off x="9143771" y="4297680"/>
            <a:ext cx="24992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我做到了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88720"/>
            <a:ext cx="121916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🔦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017520"/>
            <a:ext cx="112772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沒有光，看不見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38912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7AD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有光，才看得見。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這是光的什麼現象？</a:t>
            </a:r>
            <a:endParaRPr lang="en-US" sz="4600" dirty="0"/>
          </a:p>
        </p:txBody>
      </p:sp>
      <p:pic>
        <p:nvPicPr>
          <p:cNvPr id="3" name="Image 0" descr="C:/Users/user/AppData/Local/Temp/claude/H---------02------115-----/b3550590-5e28-4798-9348-3256aef91609/scratchpad/pptx_light/assets/shado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1128" y="1371600"/>
            <a:ext cx="6949440" cy="4632960"/>
          </a:xfrm>
          <a:prstGeom prst="rect">
            <a:avLst/>
          </a:prstGeom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1981048" y="5943600"/>
            <a:ext cx="8229600" cy="685800"/>
          </a:xfrm>
          <a:prstGeom prst="roundRect">
            <a:avLst>
              <a:gd name="adj" fmla="val 49333"/>
            </a:avLst>
          </a:prstGeom>
          <a:solidFill>
            <a:srgbClr val="F1EE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981048" y="5943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E66C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🌑 影子</a:t>
            </a:r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</a:t>
            </a:r>
            <a:pPr algn="ctr" indent="0" marL="0">
              <a:buNone/>
            </a:pPr>
            <a:r>
              <a:rPr lang="en-US" sz="2600" b="1" dirty="0">
                <a:solidFill>
                  <a:srgbClr val="2AA9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🪞 反射</a:t>
            </a:r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</a:t>
            </a:r>
            <a:pPr algn="ctr" indent="0" marL="0">
              <a:buNone/>
            </a:pPr>
            <a:r>
              <a:rPr lang="en-US" sz="2600" b="1" dirty="0">
                <a:solidFill>
                  <a:srgbClr val="3F6B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💧 折射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E66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112772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🌑 影子！</a:t>
            </a:r>
            <a:endParaRPr lang="en-US" sz="6800" dirty="0"/>
          </a:p>
        </p:txBody>
      </p:sp>
      <p:pic>
        <p:nvPicPr>
          <p:cNvPr id="4" name="Image 0" descr="C:/Users/user/AppData/Local/Temp/claude/H---------02------115-----/b3550590-5e28-4798-9348-3256aef91609/scratchpad/pptx_light/assets/shado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8328" y="1920240"/>
            <a:ext cx="6035040" cy="4023360"/>
          </a:xfrm>
          <a:prstGeom prst="rect">
            <a:avLst/>
          </a:prstGeom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731520" y="594360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光被不透明的東西擋住，後面就有影子。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這是光的什麼現象？</a:t>
            </a:r>
            <a:endParaRPr lang="en-US" sz="4600" dirty="0"/>
          </a:p>
        </p:txBody>
      </p:sp>
      <p:pic>
        <p:nvPicPr>
          <p:cNvPr id="3" name="Image 0" descr="C:/Users/user/AppData/Local/Temp/claude/H---------02------115-----/b3550590-5e28-4798-9348-3256aef91609/scratchpad/pptx_light/assets/reflec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1128" y="1371600"/>
            <a:ext cx="6949440" cy="4632960"/>
          </a:xfrm>
          <a:prstGeom prst="rect">
            <a:avLst/>
          </a:prstGeom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1981048" y="5943600"/>
            <a:ext cx="8229600" cy="685800"/>
          </a:xfrm>
          <a:prstGeom prst="roundRect">
            <a:avLst>
              <a:gd name="adj" fmla="val 49333"/>
            </a:avLst>
          </a:prstGeom>
          <a:solidFill>
            <a:srgbClr val="F1EE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981048" y="5943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E66C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🌑 影子</a:t>
            </a:r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</a:t>
            </a:r>
            <a:pPr algn="ctr" indent="0" marL="0">
              <a:buNone/>
            </a:pPr>
            <a:r>
              <a:rPr lang="en-US" sz="2600" b="1" dirty="0">
                <a:solidFill>
                  <a:srgbClr val="2AA9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🪞 反射</a:t>
            </a:r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</a:t>
            </a:r>
            <a:pPr algn="ctr" indent="0" marL="0">
              <a:buNone/>
            </a:pPr>
            <a:r>
              <a:rPr lang="en-US" sz="2600" b="1" dirty="0">
                <a:solidFill>
                  <a:srgbClr val="3F6B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💧 折射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A9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112772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🪞 反射！</a:t>
            </a:r>
            <a:endParaRPr lang="en-US" sz="6800" dirty="0"/>
          </a:p>
        </p:txBody>
      </p:sp>
      <p:pic>
        <p:nvPicPr>
          <p:cNvPr id="4" name="Image 0" descr="C:/Users/user/AppData/Local/Temp/claude/H---------02------115-----/b3550590-5e28-4798-9348-3256aef91609/scratchpad/pptx_light/assets/reflec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8328" y="1920240"/>
            <a:ext cx="6035040" cy="4023360"/>
          </a:xfrm>
          <a:prstGeom prst="rect">
            <a:avLst/>
          </a:prstGeom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731520" y="594360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光碰到光滑的鏡子，會彈回來。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這是光的什麼現象？</a:t>
            </a:r>
            <a:endParaRPr lang="en-US" sz="4600" dirty="0"/>
          </a:p>
        </p:txBody>
      </p:sp>
      <p:pic>
        <p:nvPicPr>
          <p:cNvPr id="3" name="Image 0" descr="C:/Users/user/AppData/Local/Temp/claude/H---------02------115-----/b3550590-5e28-4798-9348-3256aef91609/scratchpad/pptx_light/assets/refrac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1128" y="1371600"/>
            <a:ext cx="6949440" cy="4632960"/>
          </a:xfrm>
          <a:prstGeom prst="rect">
            <a:avLst/>
          </a:prstGeom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1981048" y="5943600"/>
            <a:ext cx="8229600" cy="685800"/>
          </a:xfrm>
          <a:prstGeom prst="roundRect">
            <a:avLst>
              <a:gd name="adj" fmla="val 49333"/>
            </a:avLst>
          </a:prstGeom>
          <a:solidFill>
            <a:srgbClr val="F1EE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981048" y="5943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E66C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🌑 影子</a:t>
            </a:r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</a:t>
            </a:r>
            <a:pPr algn="ctr" indent="0" marL="0">
              <a:buNone/>
            </a:pPr>
            <a:r>
              <a:rPr lang="en-US" sz="2600" b="1" dirty="0">
                <a:solidFill>
                  <a:srgbClr val="2AA9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🪞 反射</a:t>
            </a:r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</a:t>
            </a:r>
            <a:pPr algn="ctr" indent="0" marL="0">
              <a:buNone/>
            </a:pPr>
            <a:r>
              <a:rPr lang="en-US" sz="2600" b="1" dirty="0">
                <a:solidFill>
                  <a:srgbClr val="3F6B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💧 折射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F6B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112772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💧 折射！</a:t>
            </a:r>
            <a:endParaRPr lang="en-US" sz="6800" dirty="0"/>
          </a:p>
        </p:txBody>
      </p:sp>
      <p:pic>
        <p:nvPicPr>
          <p:cNvPr id="4" name="Image 0" descr="C:/Users/user/AppData/Local/Temp/claude/H---------02------115-----/b3550590-5e28-4798-9348-3256aef91609/scratchpad/pptx_light/assets/refrac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8328" y="1920240"/>
            <a:ext cx="6035040" cy="4023360"/>
          </a:xfrm>
          <a:prstGeom prst="rect">
            <a:avLst/>
          </a:prstGeom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731520" y="594360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光穿過水，光線會歪掉，好像斷掉了。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動手做：光的三個小實驗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3393338" cy="3840480"/>
          </a:xfrm>
          <a:prstGeom prst="roundRect">
            <a:avLst>
              <a:gd name="adj" fmla="val 5389"/>
            </a:avLst>
          </a:prstGeom>
          <a:solidFill>
            <a:srgbClr val="F1EEFF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33829" y="1600200"/>
            <a:ext cx="822960" cy="82296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833829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339333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🔦</a:t>
            </a:r>
            <a:endParaRPr lang="en-US" sz="9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480560"/>
            <a:ext cx="311901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手電筒照手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看影子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99178" y="2011680"/>
            <a:ext cx="3393338" cy="3840480"/>
          </a:xfrm>
          <a:prstGeom prst="roundRect">
            <a:avLst>
              <a:gd name="adj" fmla="val 5389"/>
            </a:avLst>
          </a:prstGeom>
          <a:solidFill>
            <a:srgbClr val="F1EEFF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84368" y="1600200"/>
            <a:ext cx="822960" cy="82296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684368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399178" y="2651760"/>
            <a:ext cx="339333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🪞</a:t>
            </a:r>
            <a:endParaRPr lang="en-US" sz="9200" dirty="0"/>
          </a:p>
        </p:txBody>
      </p:sp>
      <p:sp>
        <p:nvSpPr>
          <p:cNvPr id="12" name="Text 10"/>
          <p:cNvSpPr txBox="1"/>
          <p:nvPr/>
        </p:nvSpPr>
        <p:spPr>
          <a:xfrm>
            <a:off x="4536338" y="4480560"/>
            <a:ext cx="311901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鏡子把光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照到牆上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249717" y="2011680"/>
            <a:ext cx="3393338" cy="3840480"/>
          </a:xfrm>
          <a:prstGeom prst="roundRect">
            <a:avLst>
              <a:gd name="adj" fmla="val 5389"/>
            </a:avLst>
          </a:prstGeom>
          <a:solidFill>
            <a:srgbClr val="F1EEFF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534906" y="1600200"/>
            <a:ext cx="822960" cy="82296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534906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249717" y="2651760"/>
            <a:ext cx="339333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💧</a:t>
            </a:r>
            <a:endParaRPr lang="en-US" sz="9200" dirty="0"/>
          </a:p>
        </p:txBody>
      </p:sp>
      <p:sp>
        <p:nvSpPr>
          <p:cNvPr id="17" name="Text 15"/>
          <p:cNvSpPr txBox="1"/>
          <p:nvPr/>
        </p:nvSpPr>
        <p:spPr>
          <a:xfrm>
            <a:off x="8386877" y="4480560"/>
            <a:ext cx="311901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筆放進水杯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201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看它彎掉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🎬 看影片（老師精選）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10728655" cy="960120"/>
          </a:xfrm>
          <a:prstGeom prst="roundRect">
            <a:avLst>
              <a:gd name="adj" fmla="val 13333"/>
            </a:avLst>
          </a:prstGeom>
          <a:solidFill>
            <a:srgbClr val="1E183C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00200"/>
            <a:ext cx="731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C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69164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均一－光的反射與折射</a:t>
            </a:r>
            <a:endParaRPr lang="en-US" sz="2300" dirty="0"/>
          </a:p>
        </p:txBody>
      </p:sp>
      <p:sp>
        <p:nvSpPr>
          <p:cNvPr id="6" name="Text 4">
            <a:hlinkClick r:id="rId1" tooltip=""/>
          </p:cNvPr>
          <p:cNvSpPr txBox="1"/>
          <p:nvPr/>
        </p:nvSpPr>
        <p:spPr>
          <a:xfrm>
            <a:off x="1737360" y="2112264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BE1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https://www.junyiacademy.org/junyi-science/ns-ele/99ns/99ns-g4/99ns-g4-08/v/39oh-NZKqAc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770632"/>
            <a:ext cx="10728655" cy="960120"/>
          </a:xfrm>
          <a:prstGeom prst="roundRect">
            <a:avLst>
              <a:gd name="adj" fmla="val 13333"/>
            </a:avLst>
          </a:prstGeom>
          <a:solidFill>
            <a:srgbClr val="1E183C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770632"/>
            <a:ext cx="731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C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折射現象觀察</a:t>
            </a:r>
            <a:endParaRPr lang="en-US" sz="2300" dirty="0"/>
          </a:p>
        </p:txBody>
      </p:sp>
      <p:sp>
        <p:nvSpPr>
          <p:cNvPr id="10" name="Text 8">
            <a:hlinkClick r:id="rId2" tooltip=""/>
          </p:cNvPr>
          <p:cNvSpPr txBox="1"/>
          <p:nvPr/>
        </p:nvSpPr>
        <p:spPr>
          <a:xfrm>
            <a:off x="1737360" y="3282696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BE1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https://www.youtube.com/watch?v=PJDHaxlR1gU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941064"/>
            <a:ext cx="10728655" cy="960120"/>
          </a:xfrm>
          <a:prstGeom prst="roundRect">
            <a:avLst>
              <a:gd name="adj" fmla="val 13333"/>
            </a:avLst>
          </a:prstGeom>
          <a:solidFill>
            <a:srgbClr val="1E183C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941064"/>
            <a:ext cx="731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C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4032504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生活裡的科學－折射</a:t>
            </a:r>
            <a:endParaRPr lang="en-US" sz="2300" dirty="0"/>
          </a:p>
        </p:txBody>
      </p:sp>
      <p:sp>
        <p:nvSpPr>
          <p:cNvPr id="14" name="Text 12">
            <a:hlinkClick r:id="rId3" tooltip=""/>
          </p:cNvPr>
          <p:cNvSpPr txBox="1"/>
          <p:nvPr/>
        </p:nvSpPr>
        <p:spPr>
          <a:xfrm>
            <a:off x="1737360" y="4453128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BE1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https://www.youtube.com/watch?v=DLnXTzXVtgI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111496"/>
            <a:ext cx="10728655" cy="960120"/>
          </a:xfrm>
          <a:prstGeom prst="roundRect">
            <a:avLst>
              <a:gd name="adj" fmla="val 13333"/>
            </a:avLst>
          </a:prstGeom>
          <a:solidFill>
            <a:srgbClr val="1E183C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5111496"/>
            <a:ext cx="731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C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5202936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光的折射複習－學習吧</a:t>
            </a:r>
            <a:endParaRPr lang="en-US" sz="2300" dirty="0"/>
          </a:p>
        </p:txBody>
      </p:sp>
      <p:sp>
        <p:nvSpPr>
          <p:cNvPr id="18" name="Text 16">
            <a:hlinkClick r:id="rId4" tooltip=""/>
          </p:cNvPr>
          <p:cNvSpPr txBox="1"/>
          <p:nvPr/>
        </p:nvSpPr>
        <p:spPr>
          <a:xfrm>
            <a:off x="1737360" y="562356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BE1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https://www.learnmode.net/flip/video/4657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user/AppData/Local/Temp/claude/H---------02------115-----/b3550590-5e28-4798-9348-3256aef91609/scratchpad/pptx_light/assets/t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914400"/>
            <a:ext cx="2377440" cy="2377440"/>
          </a:xfrm>
          <a:prstGeom prst="rect">
            <a:avLst/>
          </a:prstGeom>
        </p:spPr>
      </p:pic>
      <p:pic>
        <p:nvPicPr>
          <p:cNvPr id="3" name="Image 1" descr="C:/Users/user/AppData/Local/Temp/claude/H---------02------115-----/b3550590-5e28-4798-9348-3256aef91609/scratchpad/pptx_light/assets/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051560"/>
            <a:ext cx="2148840" cy="21488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320040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🏆</a:t>
            </a:r>
            <a:endParaRPr lang="en-US" sz="70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4297680"/>
            <a:ext cx="112772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你好棒！</a:t>
            </a:r>
            <a:endParaRPr lang="en-US" sz="60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539496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7AD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影子 · 反射 · 折射，你都認識了！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2026-09-03T13:20:21Z</dcterms:created>
  <dcterms:modified xsi:type="dcterms:W3CDTF">2026-09-03T13:20:21Z</dcterms:modified>
</cp:coreProperties>
</file>